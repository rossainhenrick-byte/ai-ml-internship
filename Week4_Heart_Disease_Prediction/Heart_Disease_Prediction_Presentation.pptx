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" cy="429768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1732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HEART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1005840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500" b="1">
                <a:solidFill>
                  <a:srgbClr val="78CDCD"/>
                </a:solidFill>
                <a:latin typeface="Aptos"/>
              </a:rPr>
              <a:t>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5468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900" b="0">
                <a:solidFill>
                  <a:srgbClr val="FFFFFF"/>
                </a:solidFill>
                <a:latin typeface="Aptos"/>
              </a:rPr>
              <a:t>A comparative study of Logistic Regression and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074920"/>
            <a:ext cx="914400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AI/ML Internship Project  | 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806440"/>
            <a:ext cx="987552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200" b="0">
                <a:solidFill>
                  <a:srgbClr val="D2DCEB"/>
                </a:solidFill>
                <a:latin typeface="Aptos"/>
              </a:rPr>
              <a:t>Educational project — not a clinical diagnostic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65760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1">
                <a:solidFill>
                  <a:srgbClr val="2F69B4"/>
                </a:solidFill>
                <a:latin typeface="Aptos"/>
              </a:rPr>
              <a:t>PROJECT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33272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0">
                <a:solidFill>
                  <a:srgbClr val="2D3746"/>
                </a:solidFill>
                <a:latin typeface="Aptos"/>
              </a:rPr>
              <a:t>Build a binary classification pipeline that predicts whether heart disease is indicated in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65760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1">
                <a:solidFill>
                  <a:srgbClr val="2F69B4"/>
                </a:solidFill>
                <a:latin typeface="Aptos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3016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Clean the dataset and handle missing values.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2452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114800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Encode categorical features and scale numerical features.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81888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709160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Train and compare two supervised learning models.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41324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303520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Evaluate results using metrics and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700" b="1">
                <a:solidFill>
                  <a:srgbClr val="2F69B4"/>
                </a:solidFill>
                <a:latin typeface="Aptos"/>
              </a:rPr>
              <a:t>920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19456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300" b="0">
                <a:solidFill>
                  <a:srgbClr val="2D3746"/>
                </a:solidFill>
                <a:latin typeface="Aptos"/>
              </a:rPr>
              <a:t>Original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1945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700" b="1">
                <a:solidFill>
                  <a:srgbClr val="2F69B4"/>
                </a:solidFill>
                <a:latin typeface="Aptos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19456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300" b="0">
                <a:solidFill>
                  <a:srgbClr val="2D3746"/>
                </a:solidFill>
                <a:latin typeface="Aptos"/>
              </a:rP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37360"/>
            <a:ext cx="21945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700" b="1">
                <a:solidFill>
                  <a:srgbClr val="2F69B4"/>
                </a:solidFill>
                <a:latin typeface="Aptos"/>
              </a:rPr>
              <a:t>80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219456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300" b="0">
                <a:solidFill>
                  <a:srgbClr val="2D3746"/>
                </a:solidFill>
                <a:latin typeface="Aptos"/>
              </a:rPr>
              <a:t>Train-test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737360"/>
            <a:ext cx="21945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700" b="1">
                <a:solidFill>
                  <a:srgbClr val="2F69B4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331720"/>
            <a:ext cx="219456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300" b="0">
                <a:solidFill>
                  <a:srgbClr val="2D3746"/>
                </a:solidFill>
                <a:latin typeface="Aptos"/>
              </a:rPr>
              <a:t>Target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000" b="1">
                <a:solidFill>
                  <a:srgbClr val="16284B"/>
                </a:solidFill>
                <a:latin typeface="Aptos"/>
              </a:rPr>
              <a:t>Dataset file: heart_disease_uci.csv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08736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977639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0">
                <a:solidFill>
                  <a:srgbClr val="2D3746"/>
                </a:solidFill>
                <a:latin typeface="Aptos"/>
              </a:rPr>
              <a:t>The original target column 'num' was converted to a binary target.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68172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72000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0">
                <a:solidFill>
                  <a:srgbClr val="2D3746"/>
                </a:solidFill>
                <a:latin typeface="Aptos"/>
              </a:rPr>
              <a:t>Target 0: no heart disease indicated; Target 1: heart disease indicated.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27608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66359"/>
            <a:ext cx="10241280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0">
                <a:solidFill>
                  <a:srgbClr val="2D3746"/>
                </a:solidFill>
                <a:latin typeface="Aptos"/>
              </a:rPr>
              <a:t>The dataset contains numerical and categorical patient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Data Preparation &amp; ML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562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Load &amp; inspect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8562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74519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Split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459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8562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874519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Impute missing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6850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0332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Scale &amp; 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74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36850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70332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Train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474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368503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1E9691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70332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0">
                <a:solidFill>
                  <a:srgbClr val="2D3746"/>
                </a:solidFill>
                <a:latin typeface="Aptos"/>
              </a:rPr>
              <a:t>Numerical features: median imputation + StandardScaler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533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0">
                <a:solidFill>
                  <a:srgbClr val="2D3746"/>
                </a:solidFill>
                <a:latin typeface="Aptos"/>
              </a:rPr>
              <a:t>Categorical features: most-frequent imputation + OneHotEncoder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Models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4892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43434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300" b="1">
                <a:solidFill>
                  <a:srgbClr val="2F69B4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4069080" cy="11430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800" b="0">
                <a:solidFill>
                  <a:srgbClr val="2D3746"/>
                </a:solidFill>
                <a:latin typeface="Aptos"/>
              </a:rPr>
              <a:t>A classification algorithm that estimates the probability of a binary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4892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057400"/>
            <a:ext cx="43434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300" b="1">
                <a:solidFill>
                  <a:srgbClr val="1E9691"/>
                </a:solidFill>
                <a:latin typeface="Aptos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069080" cy="11430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800" b="0">
                <a:solidFill>
                  <a:srgbClr val="2D3746"/>
                </a:solidFill>
                <a:latin typeface="Aptos"/>
              </a:rPr>
              <a:t>A tree-based classifier that predicts outcomes using feature-based decision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42416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800" b="1">
                <a:solidFill>
                  <a:srgbClr val="16284B"/>
                </a:solidFill>
                <a:latin typeface="Aptos"/>
              </a:rPr>
              <a:t>Both models use the same train-test split and preprocessing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Model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508760"/>
          <a:ext cx="101498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3746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84.2%</a:t>
                      </a:r>
                    </a:p>
                  </a:txBody>
                  <a:tcPr>
                    <a:solidFill>
                      <a:srgbClr val="E0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75.5%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3746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84.1%</a:t>
                      </a:r>
                    </a:p>
                  </a:txBody>
                  <a:tcPr>
                    <a:solidFill>
                      <a:srgbClr val="E0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77.1%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3746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88.2%</a:t>
                      </a:r>
                    </a:p>
                  </a:txBody>
                  <a:tcPr>
                    <a:solidFill>
                      <a:srgbClr val="E0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79.4%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3746"/>
                          </a:solidFill>
                          <a:latin typeface="Aptos"/>
                        </a:rPr>
                        <a:t>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86.1%</a:t>
                      </a:r>
                    </a:p>
                  </a:txBody>
                  <a:tcPr>
                    <a:solidFill>
                      <a:srgbClr val="E0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78.3%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D3746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0.904</a:t>
                      </a:r>
                    </a:p>
                  </a:txBody>
                  <a:tcPr>
                    <a:solidFill>
                      <a:srgbClr val="E0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3746"/>
                          </a:solidFill>
                          <a:latin typeface="Aptos"/>
                        </a:rPr>
                        <a:t>0.751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Logistic Regression scored higher on all five reported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800" b="1">
                <a:solidFill>
                  <a:srgbClr val="16284B"/>
                </a:solidFill>
                <a:latin typeface="Aptos"/>
              </a:rPr>
              <a:t>Accuracy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0" cy="54864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900" b="0">
                <a:solidFill>
                  <a:srgbClr val="697382"/>
                </a:solidFill>
                <a:latin typeface="Aptos"/>
              </a:rPr>
              <a:t>HEART DISEASE PREDICTION  |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697382"/>
                </a:solidFill>
                <a:latin typeface="Aptos"/>
              </a:rPr>
              <a:t>Test-set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0312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1">
                <a:solidFill>
                  <a:srgbClr val="2D3746"/>
                </a:solidFill>
                <a:latin typeface="Aptos"/>
              </a:rPr>
              <a:t>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240280"/>
            <a:ext cx="7040880" cy="68580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2240280"/>
            <a:ext cx="5928420" cy="685800"/>
          </a:xfrm>
          <a:prstGeom prst="round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7108" y="2331720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84.2%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79"/>
            <a:ext cx="210312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600" b="1">
                <a:solidFill>
                  <a:srgbClr val="2D3746"/>
                </a:solidFill>
                <a:latin typeface="Aptos"/>
              </a:rPr>
              <a:t>Decision Tree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749039"/>
            <a:ext cx="7040880" cy="685800"/>
          </a:xfrm>
          <a:prstGeom prst="round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3749039"/>
            <a:ext cx="5315864" cy="685800"/>
          </a:xfrm>
          <a:prstGeom prst="round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552" y="3840479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700" b="1">
                <a:solidFill>
                  <a:srgbClr val="16284B"/>
                </a:solidFill>
                <a:latin typeface="Aptos"/>
              </a:rPr>
              <a:t>75.5%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424160" cy="731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800" b="0">
                <a:solidFill>
                  <a:srgbClr val="2D3746"/>
                </a:solidFill>
                <a:latin typeface="Aptos"/>
              </a:rPr>
              <a:t>Logistic Regression also achieved the higher precision, recall, F1-score, and ROC-AUC.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731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2300" b="1">
                <a:solidFill>
                  <a:srgbClr val="78DCCD"/>
                </a:solidFill>
                <a:latin typeface="Aptos"/>
              </a:rPr>
              <a:t>Logistic Regression was the best-performing model in this experiment.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85292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966959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Accuracy: 84.2%  |  F1-score: 86.1%  |  ROC-AUC: 0.904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675887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9966959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The notebook includes confusion matrices and ROC curve comparison.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498848"/>
            <a:ext cx="118872" cy="118872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9966959" cy="53035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800" b="0">
                <a:solidFill>
                  <a:srgbClr val="2D3746"/>
                </a:solidFill>
                <a:latin typeface="Aptos"/>
              </a:rPr>
              <a:t>Future work could explore more models, feature selection, and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42416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Important: educational results only; not a substitute for medical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